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2220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02920"/>
          </a:xfrm>
          <a:prstGeom prst="rect">
            <a:avLst/>
          </a:prstGeom>
          <a:noFill/>
          <a:ln/>
        </p:spPr>
        <p:txBody>
          <a:bodyPr wrap="square" lIns="0" tIns="0" rIns="0" bIns="0" rtlCol="0" anchor="ctr"/>
          <a:lstStyle/>
          <a:p>
            <a:pPr marL="0" indent="0" algn="ctr">
              <a:buNone/>
            </a:pPr>
            <a:r>
              <a:rPr lang="en-US" sz="2800" b="1" dirty="0">
                <a:solidFill>
                  <a:srgbClr val="000000"/>
                </a:solidFill>
                <a:latin typeface="Arial" pitchFamily="34" charset="0"/>
                <a:ea typeface="Arial" pitchFamily="34" charset="-122"/>
                <a:cs typeface="Arial" pitchFamily="34" charset="-120"/>
              </a:rPr>
              <a:t>IBM University Engagement</a:t>
            </a:r>
            <a:endParaRPr lang="en-US" sz="2800" dirty="0"/>
          </a:p>
        </p:txBody>
      </p:sp>
      <p:sp>
        <p:nvSpPr>
          <p:cNvPr id="3" name="Text 1"/>
          <p:cNvSpPr/>
          <p:nvPr/>
        </p:nvSpPr>
        <p:spPr>
          <a:xfrm>
            <a:off x="457200" y="777240"/>
            <a:ext cx="11277295" cy="457200"/>
          </a:xfrm>
          <a:prstGeom prst="rect">
            <a:avLst/>
          </a:prstGeom>
          <a:noFill/>
          <a:ln/>
        </p:spPr>
        <p:txBody>
          <a:bodyPr wrap="square" lIns="0" tIns="0" rIns="0" bIns="0" rtlCol="0" anchor="ctr"/>
          <a:lstStyle/>
          <a:p>
            <a:pPr marL="0" indent="0" algn="ctr">
              <a:buNone/>
            </a:pPr>
            <a:r>
              <a:rPr lang="en-US" sz="2800" b="1" dirty="0">
                <a:solidFill>
                  <a:srgbClr val="000000"/>
                </a:solidFill>
                <a:latin typeface="Arial" pitchFamily="34" charset="0"/>
                <a:ea typeface="Arial" pitchFamily="34" charset="-122"/>
                <a:cs typeface="Arial" pitchFamily="34" charset="-120"/>
              </a:rPr>
              <a:t>Project Submission</a:t>
            </a:r>
            <a:endParaRPr lang="en-US" sz="2800" dirty="0"/>
          </a:p>
        </p:txBody>
      </p:sp>
      <p:sp>
        <p:nvSpPr>
          <p:cNvPr id="4" name="Text 2"/>
          <p:cNvSpPr/>
          <p:nvPr/>
        </p:nvSpPr>
        <p:spPr>
          <a:xfrm>
            <a:off x="457200" y="1234440"/>
            <a:ext cx="11277295" cy="411480"/>
          </a:xfrm>
          <a:prstGeom prst="rect">
            <a:avLst/>
          </a:prstGeom>
          <a:noFill/>
          <a:ln/>
        </p:spPr>
        <p:txBody>
          <a:bodyPr wrap="square" lIns="0" tIns="0" rIns="0" bIns="0"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"Exploring the Power of Machine Learning with IBM Cloud"</a:t>
            </a:r>
            <a:endParaRPr lang="en-US" sz="2000" dirty="0"/>
          </a:p>
        </p:txBody>
      </p:sp>
      <p:sp>
        <p:nvSpPr>
          <p:cNvPr id="5" name="Text 3"/>
          <p:cNvSpPr/>
          <p:nvPr/>
        </p:nvSpPr>
        <p:spPr>
          <a:xfrm>
            <a:off x="457200" y="1874520"/>
            <a:ext cx="2926080" cy="45720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Project Title – </a:t>
            </a:r>
            <a:endParaRPr lang="en-US" sz="2800" dirty="0"/>
          </a:p>
        </p:txBody>
      </p:sp>
      <p:sp>
        <p:nvSpPr>
          <p:cNvPr id="6" name="Text 4"/>
          <p:cNvSpPr/>
          <p:nvPr/>
        </p:nvSpPr>
        <p:spPr>
          <a:xfrm>
            <a:off x="2832847" y="1874520"/>
            <a:ext cx="9233647" cy="640080"/>
          </a:xfrm>
          <a:prstGeom prst="rect">
            <a:avLst/>
          </a:prstGeom>
          <a:noFill/>
          <a:ln/>
        </p:spPr>
        <p:txBody>
          <a:bodyPr wrap="square" lIns="0" tIns="0" rIns="0" bIns="0" rtlCol="0" anchor="ctr"/>
          <a:lstStyle/>
          <a:p>
            <a:pPr marL="0" indent="0" algn="ctr">
              <a:buNone/>
            </a:pPr>
            <a:r>
              <a:rPr lang="en-US" sz="2400" b="1" dirty="0">
                <a:latin typeface="Arial" pitchFamily="34" charset="0"/>
                <a:ea typeface="Arial" pitchFamily="34" charset="-122"/>
                <a:cs typeface="Arial" pitchFamily="34" charset="-120"/>
              </a:rPr>
              <a:t>Intelligent Classification of Rural Road Infrastructure Projects under PMGSY using Machine Learning</a:t>
            </a:r>
            <a:endParaRPr lang="en-US" sz="2400" dirty="0"/>
          </a:p>
        </p:txBody>
      </p:sp>
      <p:sp>
        <p:nvSpPr>
          <p:cNvPr id="7" name="Text 5"/>
          <p:cNvSpPr/>
          <p:nvPr/>
        </p:nvSpPr>
        <p:spPr>
          <a:xfrm>
            <a:off x="457200" y="2514600"/>
            <a:ext cx="3474720" cy="45720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Domain of Project – </a:t>
            </a:r>
            <a:endParaRPr lang="en-US" sz="2800" dirty="0"/>
          </a:p>
        </p:txBody>
      </p:sp>
      <p:sp>
        <p:nvSpPr>
          <p:cNvPr id="8" name="Text 6"/>
          <p:cNvSpPr/>
          <p:nvPr/>
        </p:nvSpPr>
        <p:spPr>
          <a:xfrm>
            <a:off x="3749040" y="2514600"/>
            <a:ext cx="7955280" cy="457200"/>
          </a:xfrm>
          <a:prstGeom prst="rect">
            <a:avLst/>
          </a:prstGeom>
          <a:noFill/>
          <a:ln/>
        </p:spPr>
        <p:txBody>
          <a:bodyPr wrap="square" lIns="0" tIns="0" rIns="0" bIns="0" rtlCol="0" anchor="ctr"/>
          <a:lstStyle/>
          <a:p>
            <a:pPr marL="0" indent="0">
              <a:buNone/>
            </a:pPr>
            <a:r>
              <a:rPr lang="en-US" sz="2200" b="1" dirty="0">
                <a:solidFill>
                  <a:srgbClr val="FFD700"/>
                </a:solidFill>
                <a:latin typeface="Arial" pitchFamily="34" charset="0"/>
                <a:ea typeface="Arial" pitchFamily="34" charset="-122"/>
                <a:cs typeface="Arial" pitchFamily="34" charset="-120"/>
              </a:rPr>
              <a:t> </a:t>
            </a:r>
            <a:r>
              <a:rPr lang="en-US" sz="2800" b="1" dirty="0">
                <a:latin typeface="Arial" pitchFamily="34" charset="0"/>
                <a:ea typeface="Arial" pitchFamily="34" charset="-122"/>
                <a:cs typeface="Arial" pitchFamily="34" charset="-120"/>
              </a:rPr>
              <a:t>Government / Rural Infrastructure</a:t>
            </a:r>
            <a:endParaRPr lang="en-US" sz="2800" dirty="0"/>
          </a:p>
        </p:txBody>
      </p:sp>
      <p:sp>
        <p:nvSpPr>
          <p:cNvPr id="9" name="Shape 7"/>
          <p:cNvSpPr/>
          <p:nvPr/>
        </p:nvSpPr>
        <p:spPr>
          <a:xfrm>
            <a:off x="457200" y="3200400"/>
            <a:ext cx="2651760" cy="685800"/>
          </a:xfrm>
          <a:prstGeom prst="rect">
            <a:avLst/>
          </a:prstGeom>
          <a:solidFill>
            <a:srgbClr val="4472C4"/>
          </a:solidFill>
          <a:ln w="19050">
            <a:solidFill>
              <a:srgbClr val="FFFFFF"/>
            </a:solidFill>
            <a:prstDash val="solid"/>
          </a:ln>
        </p:spPr>
      </p:sp>
      <p:sp>
        <p:nvSpPr>
          <p:cNvPr id="10" name="Text 8"/>
          <p:cNvSpPr/>
          <p:nvPr/>
        </p:nvSpPr>
        <p:spPr>
          <a:xfrm>
            <a:off x="457200" y="3200400"/>
            <a:ext cx="2651760" cy="685800"/>
          </a:xfrm>
          <a:prstGeom prst="rect">
            <a:avLst/>
          </a:prstGeom>
          <a:noFill/>
          <a:ln/>
        </p:spPr>
        <p:txBody>
          <a:bodyPr wrap="square" lIns="0" tIns="0" rIns="0" bIns="0"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Student Name</a:t>
            </a:r>
            <a:endParaRPr lang="en-US" sz="1600" dirty="0"/>
          </a:p>
        </p:txBody>
      </p:sp>
      <p:sp>
        <p:nvSpPr>
          <p:cNvPr id="11" name="Shape 9"/>
          <p:cNvSpPr/>
          <p:nvPr/>
        </p:nvSpPr>
        <p:spPr>
          <a:xfrm>
            <a:off x="3200400" y="3200400"/>
            <a:ext cx="2926080" cy="685800"/>
          </a:xfrm>
          <a:prstGeom prst="rect">
            <a:avLst/>
          </a:prstGeom>
          <a:solidFill>
            <a:srgbClr val="4472C4"/>
          </a:solidFill>
          <a:ln w="19050">
            <a:solidFill>
              <a:srgbClr val="FFFFFF"/>
            </a:solidFill>
            <a:prstDash val="solid"/>
          </a:ln>
        </p:spPr>
      </p:sp>
      <p:sp>
        <p:nvSpPr>
          <p:cNvPr id="12" name="Text 10"/>
          <p:cNvSpPr/>
          <p:nvPr/>
        </p:nvSpPr>
        <p:spPr>
          <a:xfrm>
            <a:off x="3200400" y="3200400"/>
            <a:ext cx="2926080" cy="685800"/>
          </a:xfrm>
          <a:prstGeom prst="rect">
            <a:avLst/>
          </a:prstGeom>
          <a:noFill/>
          <a:ln/>
        </p:spPr>
        <p:txBody>
          <a:bodyPr wrap="square" lIns="0" tIns="0" rIns="0" bIns="0"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Recent Passport</a:t>
            </a:r>
            <a:endParaRPr lang="en-US" sz="1600" dirty="0"/>
          </a:p>
          <a:p>
            <a:pPr marL="0" indent="0" algn="ctr">
              <a:buNone/>
            </a:pPr>
            <a:r>
              <a:rPr lang="en-US" sz="1600" dirty="0">
                <a:solidFill>
                  <a:srgbClr val="FFFFFF"/>
                </a:solidFill>
                <a:latin typeface="Arial" pitchFamily="34" charset="0"/>
                <a:ea typeface="Arial" pitchFamily="34" charset="-122"/>
                <a:cs typeface="Arial" pitchFamily="34" charset="-120"/>
              </a:rPr>
              <a:t>Photo</a:t>
            </a:r>
            <a:endParaRPr lang="en-US" sz="1600" dirty="0"/>
          </a:p>
        </p:txBody>
      </p:sp>
      <p:sp>
        <p:nvSpPr>
          <p:cNvPr id="13" name="Shape 11"/>
          <p:cNvSpPr/>
          <p:nvPr/>
        </p:nvSpPr>
        <p:spPr>
          <a:xfrm>
            <a:off x="6217920" y="3200400"/>
            <a:ext cx="2834640" cy="685800"/>
          </a:xfrm>
          <a:prstGeom prst="rect">
            <a:avLst/>
          </a:prstGeom>
          <a:solidFill>
            <a:srgbClr val="4472C4"/>
          </a:solidFill>
          <a:ln w="19050">
            <a:solidFill>
              <a:srgbClr val="FFFFFF"/>
            </a:solidFill>
            <a:prstDash val="solid"/>
          </a:ln>
        </p:spPr>
      </p:sp>
      <p:sp>
        <p:nvSpPr>
          <p:cNvPr id="14" name="Text 12"/>
          <p:cNvSpPr/>
          <p:nvPr/>
        </p:nvSpPr>
        <p:spPr>
          <a:xfrm>
            <a:off x="6217920" y="3200400"/>
            <a:ext cx="2834640" cy="685800"/>
          </a:xfrm>
          <a:prstGeom prst="rect">
            <a:avLst/>
          </a:prstGeom>
          <a:noFill/>
          <a:ln/>
        </p:spPr>
        <p:txBody>
          <a:bodyPr wrap="square" lIns="0" tIns="0" rIns="0" bIns="0"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Email ID</a:t>
            </a:r>
            <a:endParaRPr lang="en-US" sz="1600" dirty="0"/>
          </a:p>
        </p:txBody>
      </p:sp>
      <p:sp>
        <p:nvSpPr>
          <p:cNvPr id="15" name="Shape 13"/>
          <p:cNvSpPr/>
          <p:nvPr/>
        </p:nvSpPr>
        <p:spPr>
          <a:xfrm>
            <a:off x="9144000" y="3200400"/>
            <a:ext cx="2651760" cy="685800"/>
          </a:xfrm>
          <a:prstGeom prst="rect">
            <a:avLst/>
          </a:prstGeom>
          <a:solidFill>
            <a:srgbClr val="4472C4"/>
          </a:solidFill>
          <a:ln w="19050">
            <a:solidFill>
              <a:srgbClr val="FFFFFF"/>
            </a:solidFill>
            <a:prstDash val="solid"/>
          </a:ln>
        </p:spPr>
      </p:sp>
      <p:sp>
        <p:nvSpPr>
          <p:cNvPr id="16" name="Text 14"/>
          <p:cNvSpPr/>
          <p:nvPr/>
        </p:nvSpPr>
        <p:spPr>
          <a:xfrm>
            <a:off x="9144000" y="3200400"/>
            <a:ext cx="2651760" cy="685800"/>
          </a:xfrm>
          <a:prstGeom prst="rect">
            <a:avLst/>
          </a:prstGeom>
          <a:noFill/>
          <a:ln/>
        </p:spPr>
        <p:txBody>
          <a:bodyPr wrap="square" lIns="0" tIns="0" rIns="0" bIns="0"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Mobile number</a:t>
            </a:r>
            <a:endParaRPr lang="en-US" sz="1600" dirty="0"/>
          </a:p>
          <a:p>
            <a:pPr marL="0" indent="0" algn="ctr">
              <a:buNone/>
            </a:pPr>
            <a:r>
              <a:rPr lang="en-US" sz="1600" dirty="0">
                <a:solidFill>
                  <a:srgbClr val="FFFFFF"/>
                </a:solidFill>
                <a:latin typeface="Arial" pitchFamily="34" charset="0"/>
                <a:ea typeface="Arial" pitchFamily="34" charset="-122"/>
                <a:cs typeface="Arial" pitchFamily="34" charset="-120"/>
              </a:rPr>
              <a:t>[WhatsApp]</a:t>
            </a:r>
            <a:endParaRPr lang="en-US" sz="1600" dirty="0"/>
          </a:p>
        </p:txBody>
      </p:sp>
      <p:sp>
        <p:nvSpPr>
          <p:cNvPr id="17" name="Shape 15"/>
          <p:cNvSpPr/>
          <p:nvPr/>
        </p:nvSpPr>
        <p:spPr>
          <a:xfrm>
            <a:off x="457200" y="3886200"/>
            <a:ext cx="2651760" cy="1645920"/>
          </a:xfrm>
          <a:prstGeom prst="rect">
            <a:avLst/>
          </a:prstGeom>
          <a:solidFill>
            <a:srgbClr val="D9E1F2"/>
          </a:solidFill>
          <a:ln w="19050">
            <a:solidFill>
              <a:srgbClr val="FFFFFF"/>
            </a:solidFill>
            <a:prstDash val="solid"/>
          </a:ln>
        </p:spPr>
      </p:sp>
      <p:sp>
        <p:nvSpPr>
          <p:cNvPr id="18" name="Shape 16"/>
          <p:cNvSpPr/>
          <p:nvPr/>
        </p:nvSpPr>
        <p:spPr>
          <a:xfrm>
            <a:off x="3200400" y="3886200"/>
            <a:ext cx="2926080" cy="1645920"/>
          </a:xfrm>
          <a:prstGeom prst="rect">
            <a:avLst/>
          </a:prstGeom>
          <a:solidFill>
            <a:srgbClr val="D9E1F2"/>
          </a:solidFill>
          <a:ln w="19050">
            <a:solidFill>
              <a:srgbClr val="FFFFFF"/>
            </a:solidFill>
            <a:prstDash val="solid"/>
          </a:ln>
        </p:spPr>
      </p:sp>
      <p:sp>
        <p:nvSpPr>
          <p:cNvPr id="19" name="Shape 17"/>
          <p:cNvSpPr/>
          <p:nvPr/>
        </p:nvSpPr>
        <p:spPr>
          <a:xfrm>
            <a:off x="6217920" y="3886200"/>
            <a:ext cx="2834640" cy="1645920"/>
          </a:xfrm>
          <a:prstGeom prst="rect">
            <a:avLst/>
          </a:prstGeom>
          <a:solidFill>
            <a:srgbClr val="D9E1F2"/>
          </a:solidFill>
          <a:ln w="19050">
            <a:solidFill>
              <a:srgbClr val="FFFFFF"/>
            </a:solidFill>
            <a:prstDash val="solid"/>
          </a:ln>
        </p:spPr>
      </p:sp>
      <p:sp>
        <p:nvSpPr>
          <p:cNvPr id="20" name="Shape 18"/>
          <p:cNvSpPr/>
          <p:nvPr/>
        </p:nvSpPr>
        <p:spPr>
          <a:xfrm>
            <a:off x="9144000" y="3886200"/>
            <a:ext cx="2651760" cy="1645920"/>
          </a:xfrm>
          <a:prstGeom prst="rect">
            <a:avLst/>
          </a:prstGeom>
          <a:solidFill>
            <a:srgbClr val="D9E1F2"/>
          </a:solidFill>
          <a:ln w="19050">
            <a:solidFill>
              <a:srgbClr val="FFFFFF"/>
            </a:solidFill>
            <a:prstDash val="solid"/>
          </a:ln>
        </p:spPr>
      </p:sp>
      <p:sp>
        <p:nvSpPr>
          <p:cNvPr id="21" name="Text 19"/>
          <p:cNvSpPr/>
          <p:nvPr/>
        </p:nvSpPr>
        <p:spPr>
          <a:xfrm>
            <a:off x="457200" y="3886200"/>
            <a:ext cx="2651760" cy="1645920"/>
          </a:xfrm>
          <a:prstGeom prst="rect">
            <a:avLst/>
          </a:prstGeom>
          <a:noFill/>
          <a:ln/>
        </p:spPr>
        <p:txBody>
          <a:bodyPr wrap="square" lIns="0" tIns="0" rIns="0" bIns="0" rtlCol="0" anchor="ctr"/>
          <a:lstStyle/>
          <a:p>
            <a:pPr marL="0" indent="0" algn="ctr">
              <a:buNone/>
            </a:pPr>
            <a:r>
              <a:rPr lang="en-US" sz="1800" dirty="0">
                <a:solidFill>
                  <a:srgbClr val="000000"/>
                </a:solidFill>
                <a:latin typeface="Arial" pitchFamily="34" charset="0"/>
                <a:ea typeface="Arial" pitchFamily="34" charset="-122"/>
                <a:cs typeface="Arial" pitchFamily="34" charset="-120"/>
              </a:rPr>
              <a:t>Ahad Gour</a:t>
            </a:r>
            <a:endParaRPr lang="en-US" sz="1800" dirty="0"/>
          </a:p>
        </p:txBody>
      </p:sp>
      <p:pic>
        <p:nvPicPr>
          <p:cNvPr id="22" name="Image 0" descr="images/photo.jpg"/>
          <p:cNvPicPr>
            <a:picLocks noChangeAspect="1"/>
          </p:cNvPicPr>
          <p:nvPr/>
        </p:nvPicPr>
        <p:blipFill>
          <a:blip r:embed="rId3"/>
          <a:srcRect/>
          <a:stretch/>
        </p:blipFill>
        <p:spPr>
          <a:xfrm>
            <a:off x="3657599" y="3977640"/>
            <a:ext cx="1694329" cy="1417320"/>
          </a:xfrm>
          <a:prstGeom prst="rect">
            <a:avLst/>
          </a:prstGeom>
        </p:spPr>
      </p:pic>
      <p:sp>
        <p:nvSpPr>
          <p:cNvPr id="23" name="Text 20"/>
          <p:cNvSpPr/>
          <p:nvPr/>
        </p:nvSpPr>
        <p:spPr>
          <a:xfrm>
            <a:off x="6217920" y="3886200"/>
            <a:ext cx="2834640" cy="1645920"/>
          </a:xfrm>
          <a:prstGeom prst="rect">
            <a:avLst/>
          </a:prstGeom>
          <a:noFill/>
          <a:ln/>
        </p:spPr>
        <p:txBody>
          <a:bodyPr wrap="square" lIns="0" tIns="0" rIns="0" bIns="0" rtlCol="0" anchor="ctr"/>
          <a:lstStyle/>
          <a:p>
            <a:pPr marL="0" indent="0" algn="ctr">
              <a:buNone/>
            </a:pPr>
            <a:r>
              <a:rPr lang="en-US" sz="1500" dirty="0">
                <a:solidFill>
                  <a:srgbClr val="000000"/>
                </a:solidFill>
                <a:latin typeface="Arial" pitchFamily="34" charset="0"/>
                <a:ea typeface="Arial" pitchFamily="34" charset="-122"/>
                <a:cs typeface="Arial" pitchFamily="34" charset="-120"/>
              </a:rPr>
              <a:t>ahadgour0211@gmail.com</a:t>
            </a:r>
            <a:endParaRPr lang="en-US" sz="1500" dirty="0"/>
          </a:p>
        </p:txBody>
      </p:sp>
      <p:sp>
        <p:nvSpPr>
          <p:cNvPr id="24" name="Text 21"/>
          <p:cNvSpPr/>
          <p:nvPr/>
        </p:nvSpPr>
        <p:spPr>
          <a:xfrm>
            <a:off x="9144000" y="3886200"/>
            <a:ext cx="2651760" cy="1645920"/>
          </a:xfrm>
          <a:prstGeom prst="rect">
            <a:avLst/>
          </a:prstGeom>
          <a:noFill/>
          <a:ln/>
        </p:spPr>
        <p:txBody>
          <a:bodyPr wrap="square" lIns="0" tIns="0" rIns="0" bIns="0" rtlCol="0" anchor="ctr"/>
          <a:lstStyle/>
          <a:p>
            <a:pPr marL="0" indent="0" algn="ctr">
              <a:buNone/>
            </a:pPr>
            <a:r>
              <a:rPr lang="en-US" sz="1800" dirty="0">
                <a:solidFill>
                  <a:srgbClr val="000000"/>
                </a:solidFill>
                <a:latin typeface="Arial" pitchFamily="34" charset="0"/>
                <a:ea typeface="Arial" pitchFamily="34" charset="-122"/>
                <a:cs typeface="Arial" pitchFamily="34" charset="-120"/>
              </a:rPr>
              <a:t>9588435658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822960"/>
          </a:xfrm>
          <a:prstGeom prst="rect">
            <a:avLst/>
          </a:prstGeom>
          <a:noFill/>
          <a:ln/>
        </p:spPr>
        <p:txBody>
          <a:bodyPr wrap="square" lIns="0" tIns="0" rIns="0" bIns="0" rtlCol="0" anchor="ctr"/>
          <a:lstStyle/>
          <a:p>
            <a:pPr marL="0" indent="0">
              <a:lnSpc>
                <a:spcPct val="110000"/>
              </a:lnSpc>
              <a:buNone/>
            </a:pPr>
            <a:r>
              <a:rPr lang="en-US" sz="2800" b="1" dirty="0">
                <a:solidFill>
                  <a:srgbClr val="000000"/>
                </a:solidFill>
                <a:latin typeface="Arial" pitchFamily="34" charset="0"/>
                <a:ea typeface="Arial" pitchFamily="34" charset="-122"/>
                <a:cs typeface="Arial" pitchFamily="34" charset="-120"/>
              </a:rPr>
              <a:t>Problem Statement: Intelligent Classification of Rural Road Infrastructure Projects under PMGSY using Machine Learning</a:t>
            </a:r>
            <a:endParaRPr lang="en-US" sz="2800" dirty="0"/>
          </a:p>
        </p:txBody>
      </p:sp>
      <p:sp>
        <p:nvSpPr>
          <p:cNvPr id="3" name="Text 1"/>
          <p:cNvSpPr/>
          <p:nvPr/>
        </p:nvSpPr>
        <p:spPr>
          <a:xfrm>
            <a:off x="457200" y="1234440"/>
            <a:ext cx="11277295" cy="5148431"/>
          </a:xfrm>
          <a:prstGeom prst="rect">
            <a:avLst/>
          </a:prstGeom>
          <a:noFill/>
          <a:ln/>
        </p:spPr>
        <p:txBody>
          <a:bodyPr wrap="square" lIns="0" tIns="0" rIns="0" bIns="0" rtlCol="0" anchor="t"/>
          <a:lstStyle/>
          <a:p>
            <a:pPr marL="0" indent="0">
              <a:lnSpc>
                <a:spcPct val="120000"/>
              </a:lnSpc>
              <a:buNone/>
            </a:pPr>
            <a:r>
              <a:rPr lang="en-US" sz="2000" dirty="0">
                <a:solidFill>
                  <a:srgbClr val="000000"/>
                </a:solidFill>
                <a:latin typeface="Arial" pitchFamily="34" charset="0"/>
                <a:ea typeface="Arial" pitchFamily="34" charset="-122"/>
                <a:cs typeface="Arial" pitchFamily="34" charset="-120"/>
              </a:rPr>
              <a:t>The Pradhan Mantri Gram Sadak Yojana (PMGSY) is a flagship rural development program by the Government of India, launched to provide all-weather road connectivity to eligible unconnected habitations. The program has evolved through different phases or schemes — PMGSY-I, PMGSY-II, and RCPLWEA — each with distinct objectives, funding mechanisms, and project specifications.</a:t>
            </a:r>
            <a:endParaRPr lang="en-US" sz="2000" dirty="0"/>
          </a:p>
          <a:p>
            <a:pPr marL="0" indent="0">
              <a:lnSpc>
                <a:spcPct val="120000"/>
              </a:lnSpc>
              <a:buNone/>
            </a:pPr>
            <a:endParaRPr lang="en-US" sz="2000" dirty="0"/>
          </a:p>
          <a:p>
            <a:pPr marL="0" indent="0">
              <a:lnSpc>
                <a:spcPct val="120000"/>
              </a:lnSpc>
              <a:buNone/>
            </a:pPr>
            <a:r>
              <a:rPr lang="en-US" sz="2000" dirty="0">
                <a:solidFill>
                  <a:srgbClr val="000000"/>
                </a:solidFill>
                <a:latin typeface="Arial" pitchFamily="34" charset="0"/>
                <a:ea typeface="Arial" pitchFamily="34" charset="-122"/>
                <a:cs typeface="Arial" pitchFamily="34" charset="-120"/>
              </a:rPr>
              <a:t>For government bodies, infrastructure planners, and policy analysts, efficiently categorizing thousands of ongoing and completed road and bridge construction projects is crucial for effective monitoring, transparent budget allocation, and assessing the long-term impact of these schemes. Manual classification is time-consuming, prone to errors, and scales poorly.</a:t>
            </a:r>
            <a:endParaRPr lang="en-US" sz="2000" dirty="0"/>
          </a:p>
          <a:p>
            <a:pPr marL="0" indent="0">
              <a:lnSpc>
                <a:spcPct val="120000"/>
              </a:lnSpc>
              <a:buNone/>
            </a:pPr>
            <a:endParaRPr lang="en-US" sz="2000" dirty="0"/>
          </a:p>
          <a:p>
            <a:pPr marL="0" indent="0">
              <a:lnSpc>
                <a:spcPct val="120000"/>
              </a:lnSpc>
              <a:buNone/>
            </a:pPr>
            <a:r>
              <a:rPr lang="en-US" sz="2000" dirty="0">
                <a:solidFill>
                  <a:srgbClr val="000000"/>
                </a:solidFill>
                <a:latin typeface="Arial" pitchFamily="34" charset="0"/>
                <a:ea typeface="Arial" pitchFamily="34" charset="-122"/>
                <a:cs typeface="Arial" pitchFamily="34" charset="-120"/>
              </a:rPr>
              <a:t>Your specific task is to design, build, and evaluate a machine learning model that can automatically classify a road or bridge construction project into its correct PMGSY_SCHEME based on its physical and financial characteristics such as state, district, number of road works sanctioned, length of road work sanctioned, and number of bridges sanctioned.</a:t>
            </a:r>
            <a:endParaRPr lang="en-US" sz="2000" dirty="0"/>
          </a:p>
          <a:p>
            <a:pPr marL="0" indent="0">
              <a:lnSpc>
                <a:spcPct val="120000"/>
              </a:lnSpc>
              <a:buNone/>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Proposed Solution – Technology Used</a:t>
            </a:r>
            <a:endParaRPr lang="en-US" sz="2800" dirty="0"/>
          </a:p>
        </p:txBody>
      </p:sp>
      <p:sp>
        <p:nvSpPr>
          <p:cNvPr id="3" name="Text 1"/>
          <p:cNvSpPr/>
          <p:nvPr/>
        </p:nvSpPr>
        <p:spPr>
          <a:xfrm>
            <a:off x="457200" y="1005840"/>
            <a:ext cx="11277295" cy="804672"/>
          </a:xfrm>
          <a:prstGeom prst="rect">
            <a:avLst/>
          </a:prstGeom>
          <a:noFill/>
          <a:ln/>
        </p:spPr>
        <p:txBody>
          <a:bodyPr wrap="square" lIns="0" tIns="0" rIns="0" bIns="0" rtlCol="0" anchor="t"/>
          <a:lstStyle/>
          <a:p>
            <a:pPr marL="0" indent="0">
              <a:lnSpc>
                <a:spcPct val="110000"/>
              </a:lnSpc>
              <a:buNone/>
            </a:pPr>
            <a:r>
              <a:rPr lang="en-US" sz="2000" b="1" dirty="0">
                <a:solidFill>
                  <a:srgbClr val="000000"/>
                </a:solidFill>
                <a:latin typeface="Arial" pitchFamily="34" charset="0"/>
                <a:ea typeface="Arial" pitchFamily="34" charset="-122"/>
                <a:cs typeface="Arial" pitchFamily="34" charset="-120"/>
              </a:rPr>
              <a:t>• IBM Cloud: </a:t>
            </a:r>
            <a:r>
              <a:rPr lang="en-US" sz="2000" dirty="0">
                <a:solidFill>
                  <a:srgbClr val="000000"/>
                </a:solidFill>
                <a:latin typeface="Arial" pitchFamily="34" charset="0"/>
                <a:ea typeface="Arial" pitchFamily="34" charset="-122"/>
                <a:cs typeface="Arial" pitchFamily="34" charset="-120"/>
              </a:rPr>
              <a:t>It provides the infrastructure to build, deploy, and scale the PMGSY Classification System efficiently. IBM Cloud enables a reliable, secure, and scalable environment for deploying the model.</a:t>
            </a:r>
            <a:endParaRPr lang="en-US" sz="2000" dirty="0"/>
          </a:p>
        </p:txBody>
      </p:sp>
      <p:sp>
        <p:nvSpPr>
          <p:cNvPr id="4" name="Text 2"/>
          <p:cNvSpPr/>
          <p:nvPr/>
        </p:nvSpPr>
        <p:spPr>
          <a:xfrm>
            <a:off x="457200" y="1874520"/>
            <a:ext cx="11277295" cy="804672"/>
          </a:xfrm>
          <a:prstGeom prst="rect">
            <a:avLst/>
          </a:prstGeom>
          <a:noFill/>
          <a:ln/>
        </p:spPr>
        <p:txBody>
          <a:bodyPr wrap="square" lIns="0" tIns="0" rIns="0" bIns="0" rtlCol="0" anchor="t"/>
          <a:lstStyle/>
          <a:p>
            <a:pPr marL="0" indent="0">
              <a:lnSpc>
                <a:spcPct val="110000"/>
              </a:lnSpc>
              <a:buNone/>
            </a:pPr>
            <a:endParaRPr lang="en-US" sz="2000" b="1" dirty="0">
              <a:solidFill>
                <a:srgbClr val="000000"/>
              </a:solidFill>
              <a:latin typeface="Arial" pitchFamily="34" charset="0"/>
              <a:ea typeface="Arial" pitchFamily="34" charset="-122"/>
              <a:cs typeface="Arial" pitchFamily="34" charset="-120"/>
            </a:endParaRPr>
          </a:p>
          <a:p>
            <a:pPr marL="0" indent="0">
              <a:lnSpc>
                <a:spcPct val="110000"/>
              </a:lnSpc>
              <a:buNone/>
            </a:pPr>
            <a:r>
              <a:rPr lang="en-US" sz="2000" b="1" dirty="0">
                <a:solidFill>
                  <a:srgbClr val="000000"/>
                </a:solidFill>
                <a:latin typeface="Arial" pitchFamily="34" charset="0"/>
                <a:ea typeface="Arial" pitchFamily="34" charset="-122"/>
                <a:cs typeface="Arial" pitchFamily="34" charset="-120"/>
              </a:rPr>
              <a:t>• ML Algorithm / Model Used: </a:t>
            </a:r>
            <a:r>
              <a:rPr lang="en-US" sz="2000" dirty="0">
                <a:solidFill>
                  <a:srgbClr val="000000"/>
                </a:solidFill>
                <a:latin typeface="Arial" pitchFamily="34" charset="0"/>
                <a:ea typeface="Arial" pitchFamily="34" charset="-122"/>
                <a:cs typeface="Arial" pitchFamily="34" charset="-120"/>
              </a:rPr>
              <a:t>Batched Tree Ensemble Classifier (XGB Classifier) selected as Pipeline 10, the top-ranked model by AutoAI on the pipeline leaderboard.</a:t>
            </a:r>
            <a:endParaRPr lang="en-US" sz="2000" dirty="0"/>
          </a:p>
        </p:txBody>
      </p:sp>
      <p:sp>
        <p:nvSpPr>
          <p:cNvPr id="5" name="Text 3"/>
          <p:cNvSpPr/>
          <p:nvPr/>
        </p:nvSpPr>
        <p:spPr>
          <a:xfrm>
            <a:off x="457200" y="2743200"/>
            <a:ext cx="11277295" cy="804672"/>
          </a:xfrm>
          <a:prstGeom prst="rect">
            <a:avLst/>
          </a:prstGeom>
          <a:noFill/>
          <a:ln/>
        </p:spPr>
        <p:txBody>
          <a:bodyPr wrap="square" lIns="0" tIns="0" rIns="0" bIns="0" rtlCol="0" anchor="t"/>
          <a:lstStyle/>
          <a:p>
            <a:pPr marL="0" indent="0">
              <a:lnSpc>
                <a:spcPct val="110000"/>
              </a:lnSpc>
              <a:buNone/>
            </a:pPr>
            <a:r>
              <a:rPr lang="en-US" sz="2000" b="1" dirty="0">
                <a:solidFill>
                  <a:srgbClr val="000000"/>
                </a:solidFill>
                <a:latin typeface="Arial" pitchFamily="34" charset="0"/>
                <a:ea typeface="Arial" pitchFamily="34" charset="-122"/>
                <a:cs typeface="Arial" pitchFamily="34" charset="-120"/>
              </a:rPr>
              <a:t>•</a:t>
            </a:r>
          </a:p>
          <a:p>
            <a:pPr marL="0" indent="0">
              <a:lnSpc>
                <a:spcPct val="110000"/>
              </a:lnSpc>
              <a:buNone/>
            </a:pPr>
            <a:r>
              <a:rPr lang="en-US" sz="2000" b="1" dirty="0">
                <a:solidFill>
                  <a:srgbClr val="000000"/>
                </a:solidFill>
                <a:latin typeface="Arial" pitchFamily="34" charset="0"/>
                <a:ea typeface="Arial" pitchFamily="34" charset="-122"/>
                <a:cs typeface="Arial" pitchFamily="34" charset="-120"/>
              </a:rPr>
              <a:t> Accuracy Obtained: </a:t>
            </a:r>
            <a:r>
              <a:rPr lang="en-US" sz="2000" dirty="0">
                <a:solidFill>
                  <a:srgbClr val="000000"/>
                </a:solidFill>
                <a:latin typeface="Arial" pitchFamily="34" charset="0"/>
                <a:ea typeface="Arial" pitchFamily="34" charset="-122"/>
                <a:cs typeface="Arial" pitchFamily="34" charset="-120"/>
              </a:rPr>
              <a:t>92.4% (0.924) optimized accuracy with matching cross-validation score.</a:t>
            </a:r>
            <a:endParaRPr lang="en-US" sz="2000" dirty="0"/>
          </a:p>
        </p:txBody>
      </p:sp>
      <p:sp>
        <p:nvSpPr>
          <p:cNvPr id="6" name="Text 4"/>
          <p:cNvSpPr/>
          <p:nvPr/>
        </p:nvSpPr>
        <p:spPr>
          <a:xfrm>
            <a:off x="457200" y="3611880"/>
            <a:ext cx="11277295" cy="804672"/>
          </a:xfrm>
          <a:prstGeom prst="rect">
            <a:avLst/>
          </a:prstGeom>
          <a:noFill/>
          <a:ln/>
        </p:spPr>
        <p:txBody>
          <a:bodyPr wrap="square" lIns="0" tIns="0" rIns="0" bIns="0" rtlCol="0" anchor="t"/>
          <a:lstStyle/>
          <a:p>
            <a:pPr marL="0" indent="0">
              <a:lnSpc>
                <a:spcPct val="110000"/>
              </a:lnSpc>
              <a:buNone/>
            </a:pPr>
            <a:r>
              <a:rPr lang="en-US" sz="2000" b="1" dirty="0">
                <a:solidFill>
                  <a:srgbClr val="000000"/>
                </a:solidFill>
                <a:latin typeface="Arial" pitchFamily="34" charset="0"/>
                <a:ea typeface="Arial" pitchFamily="34" charset="-122"/>
                <a:cs typeface="Arial" pitchFamily="34" charset="-120"/>
              </a:rPr>
              <a:t>• Enhancements and Hyperparameter Tuning: </a:t>
            </a:r>
            <a:r>
              <a:rPr lang="en-US" sz="2000" dirty="0">
                <a:solidFill>
                  <a:srgbClr val="000000"/>
                </a:solidFill>
                <a:latin typeface="Arial" pitchFamily="34" charset="0"/>
                <a:ea typeface="Arial" pitchFamily="34" charset="-122"/>
                <a:cs typeface="Arial" pitchFamily="34" charset="-120"/>
              </a:rPr>
              <a:t>HPO-1 (Hyperparameter Optimization Round 1), FE (Feature Engineering), HPO-2 (Hyperparameter Optimization Round 2), BATCH (Ensemble/Batch creation).</a:t>
            </a:r>
            <a:endParaRPr lang="en-US" sz="2000" dirty="0"/>
          </a:p>
        </p:txBody>
      </p:sp>
      <p:sp>
        <p:nvSpPr>
          <p:cNvPr id="7" name="Text 5"/>
          <p:cNvSpPr/>
          <p:nvPr/>
        </p:nvSpPr>
        <p:spPr>
          <a:xfrm>
            <a:off x="457200" y="4480560"/>
            <a:ext cx="11277295" cy="804672"/>
          </a:xfrm>
          <a:prstGeom prst="rect">
            <a:avLst/>
          </a:prstGeom>
          <a:noFill/>
          <a:ln/>
        </p:spPr>
        <p:txBody>
          <a:bodyPr wrap="square" lIns="0" tIns="0" rIns="0" bIns="0" rtlCol="0" anchor="t"/>
          <a:lstStyle/>
          <a:p>
            <a:pPr marL="0" indent="0">
              <a:lnSpc>
                <a:spcPct val="110000"/>
              </a:lnSpc>
              <a:buNone/>
            </a:pPr>
            <a:endParaRPr lang="en-US" sz="2000" b="1" dirty="0">
              <a:solidFill>
                <a:srgbClr val="000000"/>
              </a:solidFill>
              <a:latin typeface="Arial" pitchFamily="34" charset="0"/>
              <a:ea typeface="Arial" pitchFamily="34" charset="-122"/>
              <a:cs typeface="Arial" pitchFamily="34" charset="-120"/>
            </a:endParaRPr>
          </a:p>
          <a:p>
            <a:pPr marL="0" indent="0">
              <a:lnSpc>
                <a:spcPct val="110000"/>
              </a:lnSpc>
              <a:buNone/>
            </a:pPr>
            <a:r>
              <a:rPr lang="en-US" sz="2000" b="1" dirty="0">
                <a:solidFill>
                  <a:srgbClr val="000000"/>
                </a:solidFill>
                <a:latin typeface="Arial" pitchFamily="34" charset="0"/>
                <a:ea typeface="Arial" pitchFamily="34" charset="-122"/>
                <a:cs typeface="Arial" pitchFamily="34" charset="-120"/>
              </a:rPr>
              <a:t>• IBM Watson Studio (AutoAI): </a:t>
            </a:r>
            <a:r>
              <a:rPr lang="en-US" sz="2000" dirty="0">
                <a:solidFill>
                  <a:srgbClr val="000000"/>
                </a:solidFill>
                <a:latin typeface="Arial" pitchFamily="34" charset="0"/>
                <a:ea typeface="Arial" pitchFamily="34" charset="-122"/>
                <a:cs typeface="Arial" pitchFamily="34" charset="-120"/>
              </a:rPr>
              <a:t>Automatically handles data preprocessing, feature engineering, model selection, and hyperparameter tuning generating 10 candidate pipelines ranked by accuracy.</a:t>
            </a:r>
            <a:endParaRPr lang="en-US" sz="2000" dirty="0"/>
          </a:p>
        </p:txBody>
      </p:sp>
      <p:sp>
        <p:nvSpPr>
          <p:cNvPr id="8" name="Text 6"/>
          <p:cNvSpPr/>
          <p:nvPr/>
        </p:nvSpPr>
        <p:spPr>
          <a:xfrm>
            <a:off x="457200" y="5349240"/>
            <a:ext cx="11277295" cy="804672"/>
          </a:xfrm>
          <a:prstGeom prst="rect">
            <a:avLst/>
          </a:prstGeom>
          <a:noFill/>
          <a:ln/>
        </p:spPr>
        <p:txBody>
          <a:bodyPr wrap="square" lIns="0" tIns="0" rIns="0" bIns="0" rtlCol="0" anchor="t"/>
          <a:lstStyle/>
          <a:p>
            <a:pPr marL="0" indent="0">
              <a:lnSpc>
                <a:spcPct val="110000"/>
              </a:lnSpc>
              <a:buNone/>
            </a:pPr>
            <a:endParaRPr lang="en-US" sz="2000" b="1" dirty="0">
              <a:solidFill>
                <a:srgbClr val="000000"/>
              </a:solidFill>
              <a:latin typeface="Arial" pitchFamily="34" charset="0"/>
              <a:ea typeface="Arial" pitchFamily="34" charset="-122"/>
              <a:cs typeface="Arial" pitchFamily="34" charset="-120"/>
            </a:endParaRPr>
          </a:p>
          <a:p>
            <a:pPr marL="0" indent="0">
              <a:lnSpc>
                <a:spcPct val="110000"/>
              </a:lnSpc>
              <a:buNone/>
            </a:pPr>
            <a:r>
              <a:rPr lang="en-US" sz="2000" b="1" dirty="0">
                <a:solidFill>
                  <a:srgbClr val="000000"/>
                </a:solidFill>
                <a:latin typeface="Arial" pitchFamily="34" charset="0"/>
                <a:ea typeface="Arial" pitchFamily="34" charset="-122"/>
                <a:cs typeface="Arial" pitchFamily="34" charset="-120"/>
              </a:rPr>
              <a:t>• IBM Cloud Object Storage: </a:t>
            </a:r>
            <a:r>
              <a:rPr lang="en-US" sz="2000" dirty="0">
                <a:solidFill>
                  <a:srgbClr val="000000"/>
                </a:solidFill>
                <a:latin typeface="Arial" pitchFamily="34" charset="0"/>
                <a:ea typeface="Arial" pitchFamily="34" charset="-122"/>
                <a:cs typeface="Arial" pitchFamily="34" charset="-120"/>
              </a:rPr>
              <a:t>Stores the PMGSY dataset, trained model assets, and project files within the Watson Studio project workspace.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11277295"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Training Screenshots–</a:t>
            </a:r>
            <a:endParaRPr lang="en-US" sz="2800" dirty="0"/>
          </a:p>
        </p:txBody>
      </p:sp>
      <p:sp>
        <p:nvSpPr>
          <p:cNvPr id="3" name="Shape 1"/>
          <p:cNvSpPr/>
          <p:nvPr/>
        </p:nvSpPr>
        <p:spPr>
          <a:xfrm>
            <a:off x="365760" y="822960"/>
            <a:ext cx="11460175" cy="5760720"/>
          </a:xfrm>
          <a:prstGeom prst="rect">
            <a:avLst/>
          </a:prstGeom>
          <a:solidFill>
            <a:srgbClr val="FFFFFF"/>
          </a:solidFill>
          <a:ln w="12700">
            <a:solidFill>
              <a:srgbClr val="AAAAAA"/>
            </a:solidFill>
            <a:prstDash val="dash"/>
          </a:ln>
        </p:spPr>
      </p:sp>
      <p:pic>
        <p:nvPicPr>
          <p:cNvPr id="4" name="Image 0" descr="images/training.png"/>
          <p:cNvPicPr>
            <a:picLocks noChangeAspect="1"/>
          </p:cNvPicPr>
          <p:nvPr/>
        </p:nvPicPr>
        <p:blipFill>
          <a:blip r:embed="rId3"/>
          <a:srcRect/>
          <a:stretch/>
        </p:blipFill>
        <p:spPr>
          <a:xfrm>
            <a:off x="502920" y="914400"/>
            <a:ext cx="11185855" cy="5486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11277295"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Best Model Screenshot:</a:t>
            </a:r>
            <a:endParaRPr lang="en-US" sz="2800" dirty="0"/>
          </a:p>
        </p:txBody>
      </p:sp>
      <p:sp>
        <p:nvSpPr>
          <p:cNvPr id="3" name="Shape 1"/>
          <p:cNvSpPr/>
          <p:nvPr/>
        </p:nvSpPr>
        <p:spPr>
          <a:xfrm>
            <a:off x="365760" y="822960"/>
            <a:ext cx="11460175" cy="5760720"/>
          </a:xfrm>
          <a:prstGeom prst="rect">
            <a:avLst/>
          </a:prstGeom>
          <a:solidFill>
            <a:srgbClr val="FFFFFF"/>
          </a:solidFill>
          <a:ln w="12700">
            <a:solidFill>
              <a:srgbClr val="AAAAAA"/>
            </a:solidFill>
            <a:prstDash val="dash"/>
          </a:ln>
        </p:spPr>
      </p:sp>
      <p:pic>
        <p:nvPicPr>
          <p:cNvPr id="4" name="Image 0" descr="images/leaderboard.png"/>
          <p:cNvPicPr>
            <a:picLocks noChangeAspect="1"/>
          </p:cNvPicPr>
          <p:nvPr/>
        </p:nvPicPr>
        <p:blipFill>
          <a:blip r:embed="rId3"/>
          <a:srcRect/>
          <a:stretch/>
        </p:blipFill>
        <p:spPr>
          <a:xfrm>
            <a:off x="502920" y="914400"/>
            <a:ext cx="11185855" cy="5486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11277295"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Testing Screenshot:</a:t>
            </a:r>
            <a:endParaRPr lang="en-US" sz="2800" dirty="0"/>
          </a:p>
        </p:txBody>
      </p:sp>
      <p:sp>
        <p:nvSpPr>
          <p:cNvPr id="3" name="Shape 1"/>
          <p:cNvSpPr/>
          <p:nvPr/>
        </p:nvSpPr>
        <p:spPr>
          <a:xfrm>
            <a:off x="365760" y="822960"/>
            <a:ext cx="11460175" cy="5760720"/>
          </a:xfrm>
          <a:prstGeom prst="rect">
            <a:avLst/>
          </a:prstGeom>
          <a:solidFill>
            <a:srgbClr val="FFFFFF"/>
          </a:solidFill>
          <a:ln w="12700">
            <a:solidFill>
              <a:srgbClr val="AAAAAA"/>
            </a:solidFill>
            <a:prstDash val="dash"/>
          </a:ln>
        </p:spPr>
      </p:sp>
      <p:pic>
        <p:nvPicPr>
          <p:cNvPr id="4" name="Image 0" descr="images/test_input.png"/>
          <p:cNvPicPr>
            <a:picLocks noChangeAspect="1"/>
          </p:cNvPicPr>
          <p:nvPr/>
        </p:nvPicPr>
        <p:blipFill>
          <a:blip r:embed="rId3"/>
          <a:srcRect/>
          <a:stretch/>
        </p:blipFill>
        <p:spPr>
          <a:xfrm>
            <a:off x="502920" y="914400"/>
            <a:ext cx="11185855" cy="5486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11277295"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Testing Screenshot:</a:t>
            </a:r>
            <a:endParaRPr lang="en-US" sz="2800" dirty="0"/>
          </a:p>
        </p:txBody>
      </p:sp>
      <p:sp>
        <p:nvSpPr>
          <p:cNvPr id="3" name="Shape 1"/>
          <p:cNvSpPr/>
          <p:nvPr/>
        </p:nvSpPr>
        <p:spPr>
          <a:xfrm>
            <a:off x="365760" y="822960"/>
            <a:ext cx="11460175" cy="5760720"/>
          </a:xfrm>
          <a:prstGeom prst="rect">
            <a:avLst/>
          </a:prstGeom>
          <a:solidFill>
            <a:srgbClr val="FFFFFF"/>
          </a:solidFill>
          <a:ln w="12700">
            <a:solidFill>
              <a:srgbClr val="AAAAAA"/>
            </a:solidFill>
            <a:prstDash val="dash"/>
          </a:ln>
        </p:spPr>
      </p:sp>
      <p:pic>
        <p:nvPicPr>
          <p:cNvPr id="4" name="Image 0" descr="images/test_output.png"/>
          <p:cNvPicPr>
            <a:picLocks noChangeAspect="1"/>
          </p:cNvPicPr>
          <p:nvPr/>
        </p:nvPicPr>
        <p:blipFill>
          <a:blip r:embed="rId3"/>
          <a:srcRect/>
          <a:stretch/>
        </p:blipFill>
        <p:spPr>
          <a:xfrm>
            <a:off x="502920" y="914400"/>
            <a:ext cx="11185855" cy="5486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11277295" cy="54864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Novelty and Uniqueness</a:t>
            </a:r>
            <a:endParaRPr lang="en-US" sz="2800" dirty="0"/>
          </a:p>
        </p:txBody>
      </p:sp>
      <p:sp>
        <p:nvSpPr>
          <p:cNvPr id="3" name="Text 1"/>
          <p:cNvSpPr/>
          <p:nvPr/>
        </p:nvSpPr>
        <p:spPr>
          <a:xfrm>
            <a:off x="457200" y="91440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The solution automates PMGSY scheme classification, eliminating manual, time-consuming, and error-prone categorization of road and bridge construction project records.</a:t>
            </a:r>
            <a:endParaRPr lang="en-US" sz="2000" dirty="0"/>
          </a:p>
        </p:txBody>
      </p:sp>
      <p:sp>
        <p:nvSpPr>
          <p:cNvPr id="4" name="Text 2"/>
          <p:cNvSpPr/>
          <p:nvPr/>
        </p:nvSpPr>
        <p:spPr>
          <a:xfrm>
            <a:off x="457200" y="178308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It uses IBM watsonx.ai AutoAI to automatically discover the best machine learning model (XGB Classifier with 92.4% accuracy) without extensive hand-coding.</a:t>
            </a:r>
            <a:endParaRPr lang="en-US" sz="2000" dirty="0"/>
          </a:p>
        </p:txBody>
      </p:sp>
      <p:sp>
        <p:nvSpPr>
          <p:cNvPr id="5" name="Text 3"/>
          <p:cNvSpPr/>
          <p:nvPr/>
        </p:nvSpPr>
        <p:spPr>
          <a:xfrm>
            <a:off x="457200" y="265176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The system classifies road and bridge projects into multiple PMGSY scheme categories (PMGSY-I, PMGSY-II, RCPLWEA) through a single intelligent platform.</a:t>
            </a:r>
            <a:endParaRPr lang="en-US" sz="2000" dirty="0"/>
          </a:p>
        </p:txBody>
      </p:sp>
      <p:sp>
        <p:nvSpPr>
          <p:cNvPr id="6" name="Text 4"/>
          <p:cNvSpPr/>
          <p:nvPr/>
        </p:nvSpPr>
        <p:spPr>
          <a:xfrm>
            <a:off x="457200" y="352044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Automated feature engineering helps identify hidden patterns in physical and financial project data across states and districts.</a:t>
            </a:r>
            <a:endParaRPr lang="en-US" sz="2000" dirty="0"/>
          </a:p>
        </p:txBody>
      </p:sp>
      <p:sp>
        <p:nvSpPr>
          <p:cNvPr id="7" name="Text 5"/>
          <p:cNvSpPr/>
          <p:nvPr/>
        </p:nvSpPr>
        <p:spPr>
          <a:xfrm>
            <a:off x="457200" y="438912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The model ensures consistent and unbiased scheme allocation, supporting transparent budget monitoring and reducing human errors in classification.</a:t>
            </a:r>
            <a:endParaRPr lang="en-US" sz="2000" dirty="0"/>
          </a:p>
        </p:txBody>
      </p:sp>
      <p:sp>
        <p:nvSpPr>
          <p:cNvPr id="8" name="Text 6"/>
          <p:cNvSpPr/>
          <p:nvPr/>
        </p:nvSpPr>
        <p:spPr>
          <a:xfrm>
            <a:off x="457200" y="525780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Built end-to-end on IBM Cloud, the solution is scalable and can be integrated with government MIS dashboards for real-time project categorization.</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11277295" cy="54864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Git Hub Link</a:t>
            </a:r>
            <a:endParaRPr lang="en-US" sz="2800" dirty="0"/>
          </a:p>
        </p:txBody>
      </p:sp>
      <p:sp>
        <p:nvSpPr>
          <p:cNvPr id="3" name="Text 1"/>
          <p:cNvSpPr/>
          <p:nvPr/>
        </p:nvSpPr>
        <p:spPr>
          <a:xfrm>
            <a:off x="457200" y="868680"/>
            <a:ext cx="11277295" cy="914400"/>
          </a:xfrm>
          <a:prstGeom prst="rect">
            <a:avLst/>
          </a:prstGeom>
          <a:noFill/>
          <a:ln/>
        </p:spPr>
        <p:txBody>
          <a:bodyPr wrap="square" lIns="0" tIns="0" rIns="0" bIns="0" rtlCol="0" anchor="ctr"/>
          <a:lstStyle/>
          <a:p>
            <a:pPr marL="0" indent="0">
              <a:lnSpc>
                <a:spcPct val="120000"/>
              </a:lnSpc>
              <a:buNone/>
            </a:pPr>
            <a:r>
              <a:rPr lang="en-US" sz="2000" dirty="0">
                <a:solidFill>
                  <a:srgbClr val="000000"/>
                </a:solidFill>
                <a:latin typeface="Arial" pitchFamily="34" charset="0"/>
                <a:ea typeface="Arial" pitchFamily="34" charset="-122"/>
                <a:cs typeface="Arial" pitchFamily="34" charset="-120"/>
              </a:rPr>
              <a:t>Please create public github repository (Enable Add README button while creating repository)</a:t>
            </a:r>
            <a:endParaRPr lang="en-US" sz="2000" dirty="0"/>
          </a:p>
          <a:p>
            <a:pPr marL="0" indent="0">
              <a:lnSpc>
                <a:spcPct val="120000"/>
              </a:lnSpc>
              <a:buNone/>
            </a:pPr>
            <a:endParaRPr lang="en-US" sz="2000" dirty="0"/>
          </a:p>
          <a:p>
            <a:pPr marL="0" indent="0">
              <a:lnSpc>
                <a:spcPct val="120000"/>
              </a:lnSpc>
              <a:buNone/>
            </a:pPr>
            <a:r>
              <a:rPr lang="en-US" sz="2000" dirty="0">
                <a:solidFill>
                  <a:srgbClr val="000000"/>
                </a:solidFill>
                <a:latin typeface="Arial" pitchFamily="34" charset="0"/>
                <a:ea typeface="Arial" pitchFamily="34" charset="-122"/>
                <a:cs typeface="Arial" pitchFamily="34" charset="-120"/>
              </a:rPr>
              <a:t>Please test and Paste the working Github URL –</a:t>
            </a:r>
            <a:endParaRPr lang="en-US" sz="2000" dirty="0"/>
          </a:p>
        </p:txBody>
      </p:sp>
      <p:sp>
        <p:nvSpPr>
          <p:cNvPr id="4" name="Shape 2"/>
          <p:cNvSpPr/>
          <p:nvPr/>
        </p:nvSpPr>
        <p:spPr>
          <a:xfrm>
            <a:off x="457200" y="1920240"/>
            <a:ext cx="11277295" cy="640080"/>
          </a:xfrm>
          <a:prstGeom prst="rect">
            <a:avLst/>
          </a:prstGeom>
          <a:solidFill>
            <a:srgbClr val="F2F2F2"/>
          </a:solidFill>
          <a:ln w="12700">
            <a:solidFill>
              <a:srgbClr val="AAAAAA"/>
            </a:solidFill>
            <a:prstDash val="solid"/>
          </a:ln>
        </p:spPr>
      </p:sp>
      <p:sp>
        <p:nvSpPr>
          <p:cNvPr id="5" name="Text 3"/>
          <p:cNvSpPr/>
          <p:nvPr/>
        </p:nvSpPr>
        <p:spPr>
          <a:xfrm>
            <a:off x="640080" y="1920240"/>
            <a:ext cx="10911535" cy="640080"/>
          </a:xfrm>
          <a:prstGeom prst="rect">
            <a:avLst/>
          </a:prstGeom>
          <a:noFill/>
          <a:ln/>
        </p:spPr>
        <p:txBody>
          <a:bodyPr wrap="square" lIns="0" tIns="0" rIns="0" bIns="0" rtlCol="0" anchor="ctr"/>
          <a:lstStyle/>
          <a:p>
            <a:pPr marL="0" indent="0">
              <a:buNone/>
            </a:pPr>
            <a:r>
              <a:rPr lang="en-US" sz="1800" dirty="0">
                <a:solidFill>
                  <a:srgbClr val="1155CC"/>
                </a:solidFill>
                <a:latin typeface="Courier New" pitchFamily="34" charset="0"/>
                <a:ea typeface="Courier New" pitchFamily="34" charset="-122"/>
                <a:cs typeface="Courier New" pitchFamily="34" charset="-120"/>
              </a:rPr>
              <a:t>https://github.com/AhadGour/PMGSY-Scheme-Classification-ML</a:t>
            </a:r>
            <a:endParaRPr lang="en-US" sz="1800" dirty="0"/>
          </a:p>
        </p:txBody>
      </p:sp>
      <p:sp>
        <p:nvSpPr>
          <p:cNvPr id="6" name="Text 4"/>
          <p:cNvSpPr/>
          <p:nvPr/>
        </p:nvSpPr>
        <p:spPr>
          <a:xfrm>
            <a:off x="457200" y="2743200"/>
            <a:ext cx="11277295" cy="2286000"/>
          </a:xfrm>
          <a:prstGeom prst="rect">
            <a:avLst/>
          </a:prstGeom>
          <a:noFill/>
          <a:ln/>
        </p:spPr>
        <p:txBody>
          <a:bodyPr wrap="square" lIns="0" tIns="0" rIns="0" bIns="0" rtlCol="0" anchor="ctr"/>
          <a:lstStyle/>
          <a:p>
            <a:pPr marL="0" indent="0">
              <a:lnSpc>
                <a:spcPct val="130000"/>
              </a:lnSpc>
              <a:buNone/>
            </a:pPr>
            <a:r>
              <a:rPr lang="en-US" sz="2000" dirty="0">
                <a:solidFill>
                  <a:srgbClr val="000000"/>
                </a:solidFill>
                <a:latin typeface="Arial" pitchFamily="34" charset="0"/>
                <a:ea typeface="Arial" pitchFamily="34" charset="-122"/>
                <a:cs typeface="Arial" pitchFamily="34" charset="-120"/>
              </a:rPr>
              <a:t>Make sure you have Uploaded following files into your github repository:</a:t>
            </a:r>
            <a:endParaRPr lang="en-US" sz="2000" dirty="0"/>
          </a:p>
          <a:p>
            <a:pPr marL="0" indent="0">
              <a:lnSpc>
                <a:spcPct val="130000"/>
              </a:lnSpc>
              <a:buNone/>
            </a:pPr>
            <a:r>
              <a:rPr lang="en-US" sz="2000" dirty="0">
                <a:solidFill>
                  <a:srgbClr val="000000"/>
                </a:solidFill>
                <a:latin typeface="Arial" pitchFamily="34" charset="0"/>
                <a:ea typeface="Arial" pitchFamily="34" charset="-122"/>
                <a:cs typeface="Arial" pitchFamily="34" charset="-120"/>
              </a:rPr>
              <a:t>1) Data.csv file (PMGSY_DATASET.csv)</a:t>
            </a:r>
            <a:endParaRPr lang="en-US" sz="2000" dirty="0"/>
          </a:p>
          <a:p>
            <a:pPr marL="0" indent="0">
              <a:lnSpc>
                <a:spcPct val="130000"/>
              </a:lnSpc>
              <a:buNone/>
            </a:pPr>
            <a:r>
              <a:rPr lang="en-US" sz="2000" dirty="0">
                <a:solidFill>
                  <a:srgbClr val="000000"/>
                </a:solidFill>
                <a:latin typeface="Arial" pitchFamily="34" charset="0"/>
                <a:ea typeface="Arial" pitchFamily="34" charset="-122"/>
                <a:cs typeface="Arial" pitchFamily="34" charset="-120"/>
              </a:rPr>
              <a:t>2) Problem Statement PDF (Problem_Statement_35_Rural_Infrastructure_Cl...)</a:t>
            </a:r>
            <a:endParaRPr lang="en-US" sz="2000" dirty="0"/>
          </a:p>
          <a:p>
            <a:pPr marL="0" indent="0">
              <a:lnSpc>
                <a:spcPct val="130000"/>
              </a:lnSpc>
              <a:buNone/>
            </a:pPr>
            <a:r>
              <a:rPr lang="en-US" sz="2000" dirty="0">
                <a:solidFill>
                  <a:srgbClr val="000000"/>
                </a:solidFill>
                <a:latin typeface="Arial" pitchFamily="34" charset="0"/>
                <a:ea typeface="Arial" pitchFamily="34" charset="-122"/>
                <a:cs typeface="Arial" pitchFamily="34" charset="-120"/>
              </a:rPr>
              <a:t>3) Project Presentation .pptx file</a:t>
            </a:r>
            <a:endParaRPr lang="en-US" sz="2000" dirty="0"/>
          </a:p>
          <a:p>
            <a:pPr marL="0" indent="0">
              <a:lnSpc>
                <a:spcPct val="130000"/>
              </a:lnSpc>
              <a:buNone/>
            </a:pPr>
            <a:r>
              <a:rPr lang="en-US" sz="2000" dirty="0">
                <a:solidFill>
                  <a:srgbClr val="000000"/>
                </a:solidFill>
                <a:latin typeface="Arial" pitchFamily="34" charset="0"/>
                <a:ea typeface="Arial" pitchFamily="34" charset="-122"/>
                <a:cs typeface="Arial" pitchFamily="34" charset="-120"/>
              </a:rPr>
              <a:t>4) Python Notebook downloaded from IBM Cloud (PMGSY 1.ipynb)</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11277295" cy="54864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Future Scope</a:t>
            </a:r>
            <a:endParaRPr lang="en-US" sz="2800" dirty="0"/>
          </a:p>
        </p:txBody>
      </p:sp>
      <p:sp>
        <p:nvSpPr>
          <p:cNvPr id="3" name="Text 1"/>
          <p:cNvSpPr/>
          <p:nvPr/>
        </p:nvSpPr>
        <p:spPr>
          <a:xfrm>
            <a:off x="457200" y="91440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The system can be integrated with PMGSY-OMMS government portals to automate the end-to-end scheme classification and monitoring process.</a:t>
            </a:r>
            <a:endParaRPr lang="en-US" sz="2000" dirty="0"/>
          </a:p>
        </p:txBody>
      </p:sp>
      <p:sp>
        <p:nvSpPr>
          <p:cNvPr id="4" name="Text 2"/>
          <p:cNvSpPr/>
          <p:nvPr/>
        </p:nvSpPr>
        <p:spPr>
          <a:xfrm>
            <a:off x="457200" y="178308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Additional rural infrastructure programs and schemes can be included, enabling a unified AI-based project categorization platform.</a:t>
            </a:r>
            <a:endParaRPr lang="en-US" sz="2000" dirty="0"/>
          </a:p>
        </p:txBody>
      </p:sp>
      <p:sp>
        <p:nvSpPr>
          <p:cNvPr id="5" name="Text 3"/>
          <p:cNvSpPr/>
          <p:nvPr/>
        </p:nvSpPr>
        <p:spPr>
          <a:xfrm>
            <a:off x="457200" y="265176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Real-time data integration with government MIS databases can improve classification accuracy and support fraud/anomaly detection for cost overruns.</a:t>
            </a:r>
            <a:endParaRPr lang="en-US" sz="2000" dirty="0"/>
          </a:p>
        </p:txBody>
      </p:sp>
      <p:sp>
        <p:nvSpPr>
          <p:cNvPr id="6" name="Text 4"/>
          <p:cNvSpPr/>
          <p:nvPr/>
        </p:nvSpPr>
        <p:spPr>
          <a:xfrm>
            <a:off x="457200" y="352044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Advanced AI models in IBM watsonx.ai can be used to continuously improve prediction accuracy as new project data becomes available.</a:t>
            </a:r>
            <a:endParaRPr lang="en-US" sz="2000" dirty="0"/>
          </a:p>
        </p:txBody>
      </p:sp>
      <p:sp>
        <p:nvSpPr>
          <p:cNvPr id="7" name="Text 5"/>
          <p:cNvSpPr/>
          <p:nvPr/>
        </p:nvSpPr>
        <p:spPr>
          <a:xfrm>
            <a:off x="457200" y="438912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The solution can be extended to predict project completion delays, supporting proactive planning and resource allocation.</a:t>
            </a:r>
            <a:endParaRPr lang="en-US" sz="2000" dirty="0"/>
          </a:p>
        </p:txBody>
      </p:sp>
      <p:sp>
        <p:nvSpPr>
          <p:cNvPr id="8" name="Text 6"/>
          <p:cNvSpPr/>
          <p:nvPr/>
        </p:nvSpPr>
        <p:spPr>
          <a:xfrm>
            <a:off x="457200" y="5257800"/>
            <a:ext cx="11277295" cy="822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 The model can be scaled nationwide to support faster, transparent, and data-driven infrastructure monitoring across all PMGSY phases.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11277295"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Certificates Earned: Getting Started With Artificial Intelligence</a:t>
            </a:r>
            <a:endParaRPr lang="en-US" sz="2800" dirty="0"/>
          </a:p>
        </p:txBody>
      </p:sp>
      <p:sp>
        <p:nvSpPr>
          <p:cNvPr id="3" name="Text 1"/>
          <p:cNvSpPr/>
          <p:nvPr/>
        </p:nvSpPr>
        <p:spPr>
          <a:xfrm>
            <a:off x="457200" y="777240"/>
            <a:ext cx="11277295" cy="457200"/>
          </a:xfrm>
          <a:prstGeom prst="rect">
            <a:avLst/>
          </a:prstGeom>
          <a:noFill/>
          <a:ln/>
        </p:spPr>
        <p:txBody>
          <a:bodyPr wrap="square" lIns="0" tIns="0" rIns="0" bIns="0" rtlCol="0" anchor="ctr"/>
          <a:lstStyle/>
          <a:p>
            <a:pPr marL="0" indent="0" algn="ctr">
              <a:buNone/>
            </a:pPr>
            <a:endParaRPr lang="en-US" sz="2800" dirty="0"/>
          </a:p>
        </p:txBody>
      </p:sp>
      <p:sp>
        <p:nvSpPr>
          <p:cNvPr id="4" name="Shape 2"/>
          <p:cNvSpPr/>
          <p:nvPr/>
        </p:nvSpPr>
        <p:spPr>
          <a:xfrm>
            <a:off x="2286000" y="1417320"/>
            <a:ext cx="7589520" cy="5029200"/>
          </a:xfrm>
          <a:prstGeom prst="rect">
            <a:avLst/>
          </a:prstGeom>
          <a:solidFill>
            <a:srgbClr val="F8F8F8"/>
          </a:solidFill>
          <a:ln w="19050">
            <a:solidFill>
              <a:srgbClr val="CCCCCC"/>
            </a:solidFill>
            <a:prstDash val="dash"/>
          </a:ln>
        </p:spPr>
      </p:sp>
      <p:sp>
        <p:nvSpPr>
          <p:cNvPr id="5" name="Text 3"/>
          <p:cNvSpPr/>
          <p:nvPr/>
        </p:nvSpPr>
        <p:spPr>
          <a:xfrm>
            <a:off x="2286000" y="3474720"/>
            <a:ext cx="7589520" cy="914400"/>
          </a:xfrm>
          <a:prstGeom prst="rect">
            <a:avLst/>
          </a:prstGeom>
          <a:noFill/>
          <a:ln/>
        </p:spPr>
        <p:txBody>
          <a:bodyPr wrap="square" lIns="0" tIns="0" rIns="0" bIns="0" rtlCol="0" anchor="ctr"/>
          <a:lstStyle/>
          <a:p>
            <a:pPr marL="0" indent="0" algn="ctr">
              <a:buNone/>
            </a:pPr>
            <a:r>
              <a:rPr lang="en-US" sz="1800" dirty="0">
                <a:solidFill>
                  <a:srgbClr val="AAAAAA"/>
                </a:solidFill>
                <a:latin typeface="Arial" pitchFamily="34" charset="0"/>
                <a:ea typeface="Arial" pitchFamily="34" charset="-122"/>
                <a:cs typeface="Arial" pitchFamily="34" charset="-120"/>
              </a:rPr>
              <a:t>[Add your Credly certificate screenshot here]</a:t>
            </a:r>
            <a:endParaRPr lang="en-US" sz="1800" dirty="0"/>
          </a:p>
        </p:txBody>
      </p:sp>
      <p:pic>
        <p:nvPicPr>
          <p:cNvPr id="7" name="Picture 6">
            <a:extLst>
              <a:ext uri="{FF2B5EF4-FFF2-40B4-BE49-F238E27FC236}">
                <a16:creationId xmlns:a16="http://schemas.microsoft.com/office/drawing/2014/main" id="{DABE097B-B410-BAEC-8E9A-D4C2D7A8B1D8}"/>
              </a:ext>
            </a:extLst>
          </p:cNvPr>
          <p:cNvPicPr>
            <a:picLocks noChangeAspect="1"/>
          </p:cNvPicPr>
          <p:nvPr/>
        </p:nvPicPr>
        <p:blipFill>
          <a:blip r:embed="rId3"/>
          <a:stretch>
            <a:fillRect/>
          </a:stretch>
        </p:blipFill>
        <p:spPr>
          <a:xfrm>
            <a:off x="2286000" y="1417320"/>
            <a:ext cx="7589520" cy="5029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11277295"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Certificates Earned:</a:t>
            </a:r>
            <a:endParaRPr lang="en-US" sz="2800" dirty="0"/>
          </a:p>
        </p:txBody>
      </p:sp>
      <p:sp>
        <p:nvSpPr>
          <p:cNvPr id="3" name="Text 1"/>
          <p:cNvSpPr/>
          <p:nvPr/>
        </p:nvSpPr>
        <p:spPr>
          <a:xfrm>
            <a:off x="457200" y="731520"/>
            <a:ext cx="11277295" cy="457200"/>
          </a:xfrm>
          <a:prstGeom prst="rect">
            <a:avLst/>
          </a:prstGeom>
          <a:noFill/>
          <a:ln/>
        </p:spPr>
        <p:txBody>
          <a:bodyPr wrap="square" lIns="0" tIns="0" rIns="0" bIns="0" rtlCol="0" anchor="ctr"/>
          <a:lstStyle/>
          <a:p>
            <a:pPr marL="0" indent="0" algn="ctr">
              <a:buNone/>
            </a:pPr>
            <a:r>
              <a:rPr lang="en-US" sz="2800" b="1" dirty="0">
                <a:solidFill>
                  <a:srgbClr val="000000"/>
                </a:solidFill>
                <a:latin typeface="Arial" pitchFamily="34" charset="0"/>
                <a:ea typeface="Arial" pitchFamily="34" charset="-122"/>
                <a:cs typeface="Arial" pitchFamily="34" charset="-120"/>
              </a:rPr>
              <a:t>Lab:Troubleshoot Your Code IBM BOB Certificate</a:t>
            </a:r>
            <a:endParaRPr lang="en-US" sz="2800" dirty="0"/>
          </a:p>
        </p:txBody>
      </p:sp>
      <p:pic>
        <p:nvPicPr>
          <p:cNvPr id="4" name="Image 0" descr="images/cert_bob.png"/>
          <p:cNvPicPr>
            <a:picLocks noChangeAspect="1"/>
          </p:cNvPicPr>
          <p:nvPr/>
        </p:nvPicPr>
        <p:blipFill>
          <a:blip r:embed="rId3"/>
          <a:stretch>
            <a:fillRect/>
          </a:stretch>
        </p:blipFill>
        <p:spPr>
          <a:xfrm>
            <a:off x="1752448" y="1371600"/>
            <a:ext cx="8686800" cy="52041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011680"/>
            <a:ext cx="12191695" cy="1371600"/>
          </a:xfrm>
          <a:prstGeom prst="rect">
            <a:avLst/>
          </a:prstGeom>
          <a:noFill/>
          <a:ln/>
        </p:spPr>
        <p:txBody>
          <a:bodyPr wrap="square" lIns="0" tIns="0" rIns="0" bIns="0" rtlCol="0" anchor="ctr"/>
          <a:lstStyle/>
          <a:p>
            <a:pPr marL="0" indent="0" algn="ctr">
              <a:buNone/>
            </a:pPr>
            <a:r>
              <a:rPr lang="en-US" sz="5400" b="1" dirty="0">
                <a:solidFill>
                  <a:srgbClr val="1F3864"/>
                </a:solidFill>
                <a:latin typeface="Arial" pitchFamily="34" charset="0"/>
                <a:ea typeface="Arial" pitchFamily="34" charset="-122"/>
                <a:cs typeface="Arial" pitchFamily="34" charset="-120"/>
              </a:rPr>
              <a:t>Thank You!</a:t>
            </a:r>
            <a:endParaRPr lang="en-US" sz="5400" dirty="0"/>
          </a:p>
        </p:txBody>
      </p:sp>
      <p:sp>
        <p:nvSpPr>
          <p:cNvPr id="3" name="Text 1"/>
          <p:cNvSpPr/>
          <p:nvPr/>
        </p:nvSpPr>
        <p:spPr>
          <a:xfrm>
            <a:off x="0" y="3566160"/>
            <a:ext cx="12191695" cy="548640"/>
          </a:xfrm>
          <a:prstGeom prst="rect">
            <a:avLst/>
          </a:prstGeom>
          <a:noFill/>
          <a:ln/>
        </p:spPr>
        <p:txBody>
          <a:bodyPr wrap="square" lIns="0" tIns="0" rIns="0" bIns="0" rtlCol="0" anchor="ctr"/>
          <a:lstStyle/>
          <a:p>
            <a:pPr marL="0" indent="0" algn="ctr">
              <a:buNone/>
            </a:pPr>
            <a:r>
              <a:rPr lang="en-US" sz="2000" dirty="0">
                <a:solidFill>
                  <a:srgbClr val="555555"/>
                </a:solidFill>
                <a:latin typeface="Arial" pitchFamily="34" charset="0"/>
                <a:ea typeface="Arial" pitchFamily="34" charset="-122"/>
                <a:cs typeface="Arial" pitchFamily="34" charset="-120"/>
              </a:rPr>
              <a:t>Thank you for your time and interest.</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864</Words>
  <Application>Microsoft Office PowerPoint</Application>
  <PresentationFormat>Widescreen</PresentationFormat>
  <Paragraphs>80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PMGSY Rural Infrastructure Classification</dc:title>
  <dc:subject>PptxGenJS Presentation</dc:subject>
  <dc:creator>Ahad Gour</dc:creator>
  <cp:lastModifiedBy>AHAD GOUR</cp:lastModifiedBy>
  <cp:revision>2</cp:revision>
  <dcterms:created xsi:type="dcterms:W3CDTF">2026-07-01T05:53:03Z</dcterms:created>
  <dcterms:modified xsi:type="dcterms:W3CDTF">2026-07-01T06:03:18Z</dcterms:modified>
</cp:coreProperties>
</file>